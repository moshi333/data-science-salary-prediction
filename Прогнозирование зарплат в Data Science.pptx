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0f7851f7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0f7851f7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0f7851f7d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0f7851f7d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0f7851f7d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0f7851f7d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0f7851f7d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0f7851f7d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0f7851f7d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0f7851f7d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0f7851f7d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0f7851f7d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0f7851f7d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0f7851f7d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0f7851f7d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0f7851f7d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0f7851f7d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0f7851f7d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0f7851f7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0f7851f7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0f7851f7d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0f7851f7d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0f7851f7d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0f7851f7d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0f7851f7d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0f7851f7d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0f7851f7d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0f7851f7d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713552" y="755150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r>
              <a:rPr lang="ru" sz="4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Прогнозирование зарплат в Data Science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357550" y="3774600"/>
            <a:ext cx="3296100" cy="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00"/>
                </a:solidFill>
              </a:rPr>
              <a:t>Сделал:Кайржанов Мадиар</a:t>
            </a:r>
            <a:endParaRPr sz="1500">
              <a:solidFill>
                <a:srgbClr val="FFFF00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00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00"/>
                </a:solidFill>
              </a:rPr>
              <a:t>Группа:ИС-22-2</a:t>
            </a:r>
            <a:endParaRPr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213050" y="166150"/>
            <a:ext cx="8222100" cy="90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>
                <a:solidFill>
                  <a:srgbClr val="FFFF00"/>
                </a:solidFill>
              </a:rPr>
              <a:t>Постановка задачи</a:t>
            </a:r>
            <a:endParaRPr sz="3900">
              <a:solidFill>
                <a:srgbClr val="FFFF00"/>
              </a:solidFill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585900" y="1258550"/>
            <a:ext cx="2082300" cy="1239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85900" y="1270950"/>
            <a:ext cx="2082300" cy="12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Цель проекта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3282950" y="1252350"/>
            <a:ext cx="2082300" cy="1239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282950" y="1270950"/>
            <a:ext cx="2082300" cy="12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Тип задачи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1503100" y="3291175"/>
            <a:ext cx="2647500" cy="9075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490650" y="3291175"/>
            <a:ext cx="26724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Бизнес-ценность</a:t>
            </a:r>
            <a:endParaRPr sz="18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4760213" y="3018475"/>
            <a:ext cx="694200" cy="2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766438" y="4186275"/>
            <a:ext cx="694200" cy="2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064025" y="2875975"/>
            <a:ext cx="1685700" cy="5577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064025" y="4043775"/>
            <a:ext cx="1685700" cy="5577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064025" y="2866675"/>
            <a:ext cx="16857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Кандидатам</a:t>
            </a:r>
            <a:endParaRPr sz="18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064025" y="4034475"/>
            <a:ext cx="16857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Компаниям</a:t>
            </a:r>
            <a:endParaRPr sz="18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176700" y="1817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50">
                <a:solidFill>
                  <a:srgbClr val="FFFF00"/>
                </a:solidFill>
              </a:rPr>
              <a:t>Описание данных</a:t>
            </a:r>
            <a:endParaRPr sz="3950">
              <a:solidFill>
                <a:srgbClr val="FFFF00"/>
              </a:solidFill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412375" y="1246150"/>
            <a:ext cx="6655500" cy="3408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387600" y="1246150"/>
            <a:ext cx="6692700" cy="3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Источник:Kaggle (2020-2024 гг.)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Размер датасета: ~16000 записей, 11 признаков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Ключевые признаки: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-salary_in_usd;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-experience_level;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-company_location;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-job_title;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121700" y="107325"/>
            <a:ext cx="6717600" cy="12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80">
                <a:solidFill>
                  <a:srgbClr val="FFFF00"/>
                </a:solidFill>
              </a:rPr>
              <a:t>Инсайт 1: Опыт - главный </a:t>
            </a:r>
            <a:endParaRPr sz="358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80">
                <a:solidFill>
                  <a:srgbClr val="FFFF00"/>
                </a:solidFill>
              </a:rPr>
              <a:t>драйвер роста</a:t>
            </a:r>
            <a:endParaRPr sz="3580">
              <a:solidFill>
                <a:srgbClr val="FFFF00"/>
              </a:solidFill>
            </a:endParaRPr>
          </a:p>
        </p:txBody>
      </p:sp>
      <p:pic>
        <p:nvPicPr>
          <p:cNvPr id="116" name="Google Shape;116;p16" title="experience_sal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25" y="1407275"/>
            <a:ext cx="7882274" cy="360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121700" y="107325"/>
            <a:ext cx="6717600" cy="12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80">
                <a:solidFill>
                  <a:srgbClr val="FFFF00"/>
                </a:solidFill>
              </a:rPr>
              <a:t>Инсайт 2: Три столпа data-индустрии</a:t>
            </a:r>
            <a:endParaRPr sz="3580">
              <a:solidFill>
                <a:srgbClr val="FFFF00"/>
              </a:solidFill>
            </a:endParaRPr>
          </a:p>
        </p:txBody>
      </p:sp>
      <p:pic>
        <p:nvPicPr>
          <p:cNvPr id="122" name="Google Shape;122;p17" title="top10_jobs_popularity.png"/>
          <p:cNvPicPr preferRelativeResize="0"/>
          <p:nvPr/>
        </p:nvPicPr>
        <p:blipFill rotWithShape="1">
          <a:blip r:embed="rId3">
            <a:alphaModFix/>
          </a:blip>
          <a:srcRect b="3746" l="0" r="0" t="3755"/>
          <a:stretch/>
        </p:blipFill>
        <p:spPr>
          <a:xfrm>
            <a:off x="251250" y="1407275"/>
            <a:ext cx="8452699" cy="360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121700" y="107325"/>
            <a:ext cx="6717600" cy="12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80">
                <a:solidFill>
                  <a:srgbClr val="FFFF00"/>
                </a:solidFill>
              </a:rPr>
              <a:t>Инсайт 3: Матрица корреляций</a:t>
            </a:r>
            <a:endParaRPr sz="3580">
              <a:solidFill>
                <a:srgbClr val="FFFF00"/>
              </a:solidFill>
            </a:endParaRPr>
          </a:p>
        </p:txBody>
      </p:sp>
      <p:pic>
        <p:nvPicPr>
          <p:cNvPr id="128" name="Google Shape;128;p18" title="correlat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97825"/>
            <a:ext cx="6382600" cy="349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121700" y="107325"/>
            <a:ext cx="6717600" cy="12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80">
                <a:solidFill>
                  <a:srgbClr val="FFFF00"/>
                </a:solidFill>
              </a:rPr>
              <a:t>Инсайт 4: Влияние типа удаленной работы</a:t>
            </a:r>
            <a:endParaRPr sz="3580">
              <a:solidFill>
                <a:srgbClr val="FFFF00"/>
              </a:solidFill>
            </a:endParaRPr>
          </a:p>
        </p:txBody>
      </p:sp>
      <p:pic>
        <p:nvPicPr>
          <p:cNvPr id="134" name="Google Shape;134;p19" title="remotelevel_sal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97825"/>
            <a:ext cx="7646799" cy="349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121700" y="107325"/>
            <a:ext cx="6717600" cy="10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80">
                <a:solidFill>
                  <a:srgbClr val="FFFF00"/>
                </a:solidFill>
              </a:rPr>
              <a:t>Инсайт 5: Рост рынка</a:t>
            </a:r>
            <a:endParaRPr sz="3580">
              <a:solidFill>
                <a:srgbClr val="FFFF00"/>
              </a:solidFill>
            </a:endParaRPr>
          </a:p>
        </p:txBody>
      </p:sp>
      <p:pic>
        <p:nvPicPr>
          <p:cNvPr id="140" name="Google Shape;140;p20" title="meansalary_ye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70950"/>
            <a:ext cx="7770725" cy="37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176700" y="1817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50">
                <a:solidFill>
                  <a:srgbClr val="FFFF00"/>
                </a:solidFill>
              </a:rPr>
              <a:t>Подход к предобработке</a:t>
            </a:r>
            <a:endParaRPr sz="3950">
              <a:solidFill>
                <a:srgbClr val="FFFF00"/>
              </a:solidFill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412375" y="1246150"/>
            <a:ext cx="6655500" cy="3408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387600" y="1246150"/>
            <a:ext cx="6692700" cy="3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1.Очистка</a:t>
            </a: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: Удаление дубликатов и лишних колонок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2.Feature engineering: 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Ordinal encoding: Experience(EN=0…EX=3),Company Size(S=0..L=2)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Сокращение размерности:Топ 15 профессий,остальные - ‘Other’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One-Hot Encoding: Для стран и профессий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3.Разделение: Train/Test split (80/20)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176700" y="1817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50">
                <a:solidFill>
                  <a:srgbClr val="FFFF00"/>
                </a:solidFill>
              </a:rPr>
              <a:t>Сравнение алгоритмов</a:t>
            </a:r>
            <a:endParaRPr sz="3950">
              <a:solidFill>
                <a:srgbClr val="FFFF00"/>
              </a:solidFill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412375" y="1246150"/>
            <a:ext cx="6655500" cy="36810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387600" y="1246150"/>
            <a:ext cx="6692700" cy="3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1.Linear Regression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ru" sz="2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R²:0.297 | RMSE:~59k</a:t>
            </a:r>
            <a:endParaRPr sz="2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-Плюсы:Интерпретируемость,простота</a:t>
            </a:r>
            <a:endParaRPr sz="2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2.Random Forest</a:t>
            </a:r>
            <a:endParaRPr sz="2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ru" sz="2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R²:0.280 | RMSE:~60k</a:t>
            </a:r>
            <a:endParaRPr sz="2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-Минусы:Склонность к переобучению на этих данных</a:t>
            </a:r>
            <a:endParaRPr sz="2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3.Gradient Boosting</a:t>
            </a:r>
            <a:endParaRPr sz="2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-R²:0.302 | RMSE:~58k</a:t>
            </a:r>
            <a:endParaRPr sz="2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-Победитель по точности</a:t>
            </a:r>
            <a:endParaRPr sz="2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121700" y="107325"/>
            <a:ext cx="6717600" cy="90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80">
                <a:solidFill>
                  <a:srgbClr val="FFFF00"/>
                </a:solidFill>
              </a:rPr>
              <a:t>Визуализация ошибок (Actual vs Predicted)</a:t>
            </a:r>
            <a:endParaRPr sz="3580">
              <a:solidFill>
                <a:srgbClr val="FFFF00"/>
              </a:solidFill>
            </a:endParaRPr>
          </a:p>
        </p:txBody>
      </p:sp>
      <p:pic>
        <p:nvPicPr>
          <p:cNvPr id="160" name="Google Shape;160;p23" title="actual_and_predict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1800"/>
            <a:ext cx="8402827" cy="381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176700" y="1817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50">
                <a:solidFill>
                  <a:srgbClr val="FFFF00"/>
                </a:solidFill>
              </a:rPr>
              <a:t>Финальная модель: Gradient Boosting</a:t>
            </a:r>
            <a:endParaRPr sz="3950">
              <a:solidFill>
                <a:srgbClr val="FFFF00"/>
              </a:solidFill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412375" y="1246150"/>
            <a:ext cx="6655500" cy="36810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387600" y="1246150"/>
            <a:ext cx="6692700" cy="3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Итоговые метрики на тестовой выборке: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• R² Score: 0.302 (Объясняет ~30% дисперсии)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• MAE: ~$45,000 (Средняя ошибка в долларах)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Интерпретация: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Модель успешно уловила линейный тренд роста зарплаты от грейда и локации, показав лучший результат среди конкурентов.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152400" y="167875"/>
            <a:ext cx="6717600" cy="8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80">
                <a:solidFill>
                  <a:srgbClr val="FFFF00"/>
                </a:solidFill>
              </a:rPr>
              <a:t>Что влияет на зарплату?</a:t>
            </a:r>
            <a:endParaRPr sz="3580">
              <a:solidFill>
                <a:srgbClr val="FFFF00"/>
              </a:solidFill>
            </a:endParaRPr>
          </a:p>
        </p:txBody>
      </p:sp>
      <p:pic>
        <p:nvPicPr>
          <p:cNvPr id="173" name="Google Shape;173;p25" title="10_fact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1800"/>
            <a:ext cx="8031000" cy="38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176700" y="1817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50">
                <a:solidFill>
                  <a:srgbClr val="FFFF00"/>
                </a:solidFill>
              </a:rPr>
              <a:t>Ограничения и будущие шаги</a:t>
            </a:r>
            <a:endParaRPr sz="3950">
              <a:solidFill>
                <a:srgbClr val="FFFF00"/>
              </a:solidFill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412375" y="1246150"/>
            <a:ext cx="6655500" cy="36810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387600" y="1246150"/>
            <a:ext cx="6692700" cy="3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Текущие ограничения (R² ~0.30):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• Нет данных о Hard Skills (Python, SQL, AWS).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• Нет данных о бонусах и акциях (Total Comp).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• Влияние инфляции (данные за 4 года).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План улучшений: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1. Обогатить датасет навыками (парсинг вакансий).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2. Разделить прогноз на Оклад и Бонусы.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3. Добавить макроэкономические показатели.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176700" y="1817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950">
                <a:solidFill>
                  <a:srgbClr val="FFFF00"/>
                </a:solidFill>
              </a:rPr>
              <a:t>Спасибо за внимание!</a:t>
            </a:r>
            <a:endParaRPr sz="3950">
              <a:solidFill>
                <a:srgbClr val="FFFF00"/>
              </a:solidFill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412375" y="1246150"/>
            <a:ext cx="6655500" cy="19707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387600" y="1246050"/>
            <a:ext cx="6692700" cy="19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Ссылка на GitHub репозиторий: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[https://github.com/moshi333/Data-Science-Salary-Prediction]</a:t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